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9" r:id="rId4"/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E33713E-936C-4153-A38E-5986B79397EA}">
  <a:tblStyle styleId="{BE33713E-936C-4153-A38E-5986B79397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h5d5eb4399a85c0b7_1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h5d5eb4399a85c0b7_1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5d5eb4399a85c0b7_1_1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h5d5eb4399a85c0b7_1_1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h5d5eb4399a85c0b7_3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h5d5eb4399a85c0b7_3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5d5eb4399a85c0b7_3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h5d5eb4399a85c0b7_3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h5d5eb4399a85c0b7_3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h5d5eb4399a85c0b7_3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h5d5eb4399a85c0b7_3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h5d5eb4399a85c0b7_3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h5d5eb4399a85c0b7_3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h5d5eb4399a85c0b7_3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h5d5eb4399a85c0b7_3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h5d5eb4399a85c0b7_3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5d5eb4399a85c0b7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h5d5eb4399a85c0b7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h5d5eb4399a85c0b7_1_2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h5d5eb4399a85c0b7_1_2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h5d5eb4399a85c0b7_1_3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h5d5eb4399a85c0b7_1_3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h1626bb96e3d60049_23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h1626bb96e3d60049_23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h1626bb96e3d6004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h1626bb96e3d6004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h1626bb96e3d60049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h1626bb96e3d60049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h1626bb96e3d60049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h1626bb96e3d60049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h1626bb96e3d60049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h1626bb96e3d60049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h1626bb96e3d60049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h1626bb96e3d60049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h51adfd05611d3f48_3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h51adfd05611d3f48_3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h51adfd05611d3f48_3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h51adfd05611d3f48_3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h51adfd05611d3f48_3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h51adfd05611d3f48_3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h51adfd05611d3f48_3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h51adfd05611d3f48_3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h5d5eb4399a85c0b7_1_2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h5d5eb4399a85c0b7_1_2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trada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95484" y="2571381"/>
            <a:ext cx="4143972" cy="1373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44521" y="5547936"/>
            <a:ext cx="2504546" cy="82640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1" sz="4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i="1" sz="2400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Título y objeto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4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23" name="Google Shape;23;p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24;p4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" name="Google Shape;25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5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31" name="Google Shape;31;p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" name="Google Shape;32;p5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Google Shape;33;p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5" name="Google Shape;35;p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6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40" name="Google Shape;40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" name="Google Shape;41;p6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" name="Google Shape;4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7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49" name="Google Shape;49;p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" name="Google Shape;50;p7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" name="Google Shape;5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8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60" name="Google Shape;6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8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" name="Google Shape;6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2" type="sldNum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64" name="Google Shape;64;p8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>
  <p:cSld name="En blanco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10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68" name="Google Shape;68;p1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p10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" name="Google Shape;70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/>
          <p:nvPr>
            <p:ph idx="2" type="pic"/>
          </p:nvPr>
        </p:nvSpPr>
        <p:spPr>
          <a:xfrm>
            <a:off x="5183188" y="987426"/>
            <a:ext cx="6172200" cy="4541308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839788" y="2057400"/>
            <a:ext cx="3932237" cy="3551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4" name="Google Shape;74;p10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11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77" name="Google Shape;77;p1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11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" type="body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2" type="sldNum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82" name="Google Shape;82;p11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2"/>
          <p:cNvGrpSpPr/>
          <p:nvPr/>
        </p:nvGrpSpPr>
        <p:grpSpPr>
          <a:xfrm>
            <a:off x="0" y="5716598"/>
            <a:ext cx="11959674" cy="939388"/>
            <a:chOff x="0" y="5716598"/>
            <a:chExt cx="11959674" cy="939388"/>
          </a:xfrm>
        </p:grpSpPr>
        <p:pic>
          <p:nvPicPr>
            <p:cNvPr id="85" name="Google Shape;85;p1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5716598"/>
              <a:ext cx="11034643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p12"/>
            <p:cNvSpPr/>
            <p:nvPr/>
          </p:nvSpPr>
          <p:spPr>
            <a:xfrm>
              <a:off x="11020286" y="5716598"/>
              <a:ext cx="939388" cy="93938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" name="Google Shape;87;p12"/>
          <p:cNvSpPr txBox="1"/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" type="body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2" type="sldNum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90" name="Google Shape;90;p12"/>
          <p:cNvSpPr/>
          <p:nvPr/>
        </p:nvSpPr>
        <p:spPr>
          <a:xfrm>
            <a:off x="237434" y="6004476"/>
            <a:ext cx="5680765" cy="34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trada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95484" y="2571381"/>
            <a:ext cx="4143973" cy="1373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44521" y="5547936"/>
            <a:ext cx="2504546" cy="82640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1" sz="4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i="1" sz="2400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Título y objetos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838200" y="1825626"/>
            <a:ext cx="10515600" cy="3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2" type="sldNum"/>
          </p:nvPr>
        </p:nvSpPr>
        <p:spPr>
          <a:xfrm>
            <a:off x="11195777" y="6307663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232326" y="6231897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RIC: arquitectura, casos de uso e implementaciones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7"/>
          <p:cNvGrpSpPr/>
          <p:nvPr/>
        </p:nvGrpSpPr>
        <p:grpSpPr>
          <a:xfrm>
            <a:off x="0" y="5716598"/>
            <a:ext cx="11959586" cy="939388"/>
            <a:chOff x="0" y="5716598"/>
            <a:chExt cx="11959586" cy="939388"/>
          </a:xfrm>
        </p:grpSpPr>
        <p:pic>
          <p:nvPicPr>
            <p:cNvPr id="110" name="Google Shape;110;p1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5716598"/>
              <a:ext cx="11034644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17"/>
            <p:cNvSpPr/>
            <p:nvPr/>
          </p:nvSpPr>
          <p:spPr>
            <a:xfrm>
              <a:off x="11020286" y="5716598"/>
              <a:ext cx="939300" cy="939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" name="Google Shape;112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12" type="sldNum"/>
          </p:nvPr>
        </p:nvSpPr>
        <p:spPr>
          <a:xfrm>
            <a:off x="11194770" y="6004476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237434" y="6004476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18"/>
          <p:cNvGrpSpPr/>
          <p:nvPr/>
        </p:nvGrpSpPr>
        <p:grpSpPr>
          <a:xfrm>
            <a:off x="0" y="5716598"/>
            <a:ext cx="11959586" cy="939388"/>
            <a:chOff x="0" y="5716598"/>
            <a:chExt cx="11959586" cy="939388"/>
          </a:xfrm>
        </p:grpSpPr>
        <p:pic>
          <p:nvPicPr>
            <p:cNvPr id="119" name="Google Shape;119;p1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5716598"/>
              <a:ext cx="11034644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" name="Google Shape;120;p18"/>
            <p:cNvSpPr/>
            <p:nvPr/>
          </p:nvSpPr>
          <p:spPr>
            <a:xfrm>
              <a:off x="11020286" y="5716598"/>
              <a:ext cx="939300" cy="939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18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8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3" name="Google Shape;123;p18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18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5" name="Google Shape;125;p18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8"/>
          <p:cNvSpPr txBox="1"/>
          <p:nvPr>
            <p:ph idx="12" type="sldNum"/>
          </p:nvPr>
        </p:nvSpPr>
        <p:spPr>
          <a:xfrm>
            <a:off x="11194770" y="6004476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237434" y="6004476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19"/>
          <p:cNvGrpSpPr/>
          <p:nvPr/>
        </p:nvGrpSpPr>
        <p:grpSpPr>
          <a:xfrm>
            <a:off x="0" y="5716598"/>
            <a:ext cx="11959586" cy="939388"/>
            <a:chOff x="0" y="5716598"/>
            <a:chExt cx="11959586" cy="939388"/>
          </a:xfrm>
        </p:grpSpPr>
        <p:pic>
          <p:nvPicPr>
            <p:cNvPr id="130" name="Google Shape;130;p1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5716598"/>
              <a:ext cx="11034644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" name="Google Shape;131;p19"/>
            <p:cNvSpPr/>
            <p:nvPr/>
          </p:nvSpPr>
          <p:spPr>
            <a:xfrm>
              <a:off x="11020286" y="5716598"/>
              <a:ext cx="939300" cy="939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" name="Google Shape;132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9"/>
          <p:cNvSpPr txBox="1"/>
          <p:nvPr>
            <p:ph idx="12" type="sldNum"/>
          </p:nvPr>
        </p:nvSpPr>
        <p:spPr>
          <a:xfrm>
            <a:off x="11194770" y="6004476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34" name="Google Shape;134;p19"/>
          <p:cNvSpPr/>
          <p:nvPr/>
        </p:nvSpPr>
        <p:spPr>
          <a:xfrm>
            <a:off x="237434" y="6004476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>
  <p:cSld name="En blanco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21"/>
          <p:cNvGrpSpPr/>
          <p:nvPr/>
        </p:nvGrpSpPr>
        <p:grpSpPr>
          <a:xfrm>
            <a:off x="0" y="5716598"/>
            <a:ext cx="11959586" cy="939388"/>
            <a:chOff x="0" y="5716598"/>
            <a:chExt cx="11959586" cy="939388"/>
          </a:xfrm>
        </p:grpSpPr>
        <p:pic>
          <p:nvPicPr>
            <p:cNvPr id="138" name="Google Shape;138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5716598"/>
              <a:ext cx="11034644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p21"/>
            <p:cNvSpPr/>
            <p:nvPr/>
          </p:nvSpPr>
          <p:spPr>
            <a:xfrm>
              <a:off x="11020286" y="5716598"/>
              <a:ext cx="939300" cy="939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" name="Google Shape;140;p21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1"/>
          <p:cNvSpPr/>
          <p:nvPr>
            <p:ph idx="2" type="pic"/>
          </p:nvPr>
        </p:nvSpPr>
        <p:spPr>
          <a:xfrm>
            <a:off x="5183188" y="987426"/>
            <a:ext cx="6172200" cy="4541400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839788" y="2057400"/>
            <a:ext cx="3932100" cy="35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3" name="Google Shape;143;p21"/>
          <p:cNvSpPr txBox="1"/>
          <p:nvPr>
            <p:ph idx="12" type="sldNum"/>
          </p:nvPr>
        </p:nvSpPr>
        <p:spPr>
          <a:xfrm>
            <a:off x="11194770" y="6004476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44" name="Google Shape;144;p21"/>
          <p:cNvSpPr/>
          <p:nvPr/>
        </p:nvSpPr>
        <p:spPr>
          <a:xfrm>
            <a:off x="237434" y="6004476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22"/>
          <p:cNvGrpSpPr/>
          <p:nvPr/>
        </p:nvGrpSpPr>
        <p:grpSpPr>
          <a:xfrm>
            <a:off x="0" y="5716598"/>
            <a:ext cx="11959586" cy="939388"/>
            <a:chOff x="0" y="5716598"/>
            <a:chExt cx="11959586" cy="939388"/>
          </a:xfrm>
        </p:grpSpPr>
        <p:pic>
          <p:nvPicPr>
            <p:cNvPr id="147" name="Google Shape;147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5716598"/>
              <a:ext cx="11034644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p22"/>
            <p:cNvSpPr/>
            <p:nvPr/>
          </p:nvSpPr>
          <p:spPr>
            <a:xfrm>
              <a:off x="11020286" y="5716598"/>
              <a:ext cx="939300" cy="939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9" name="Google Shape;149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2"/>
          <p:cNvSpPr txBox="1"/>
          <p:nvPr>
            <p:ph idx="1" type="body"/>
          </p:nvPr>
        </p:nvSpPr>
        <p:spPr>
          <a:xfrm rot="5400000">
            <a:off x="4161600" y="-1497774"/>
            <a:ext cx="38688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22"/>
          <p:cNvSpPr txBox="1"/>
          <p:nvPr>
            <p:ph idx="12" type="sldNum"/>
          </p:nvPr>
        </p:nvSpPr>
        <p:spPr>
          <a:xfrm>
            <a:off x="11194770" y="6004476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52" name="Google Shape;152;p22"/>
          <p:cNvSpPr/>
          <p:nvPr/>
        </p:nvSpPr>
        <p:spPr>
          <a:xfrm>
            <a:off x="237434" y="6004476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23"/>
          <p:cNvGrpSpPr/>
          <p:nvPr/>
        </p:nvGrpSpPr>
        <p:grpSpPr>
          <a:xfrm>
            <a:off x="0" y="5716598"/>
            <a:ext cx="11959586" cy="939388"/>
            <a:chOff x="0" y="5716598"/>
            <a:chExt cx="11959586" cy="939388"/>
          </a:xfrm>
        </p:grpSpPr>
        <p:pic>
          <p:nvPicPr>
            <p:cNvPr id="155" name="Google Shape;155;p2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5716598"/>
              <a:ext cx="11034644" cy="9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" name="Google Shape;156;p23"/>
            <p:cNvSpPr/>
            <p:nvPr/>
          </p:nvSpPr>
          <p:spPr>
            <a:xfrm>
              <a:off x="11020286" y="5716598"/>
              <a:ext cx="939300" cy="939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" name="Google Shape;157;p23"/>
          <p:cNvSpPr txBox="1"/>
          <p:nvPr>
            <p:ph type="title"/>
          </p:nvPr>
        </p:nvSpPr>
        <p:spPr>
          <a:xfrm rot="5400000">
            <a:off x="7363651" y="1726376"/>
            <a:ext cx="53514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3"/>
          <p:cNvSpPr txBox="1"/>
          <p:nvPr>
            <p:ph idx="1" type="body"/>
          </p:nvPr>
        </p:nvSpPr>
        <p:spPr>
          <a:xfrm rot="5400000">
            <a:off x="2029651" y="-826324"/>
            <a:ext cx="53514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23"/>
          <p:cNvSpPr txBox="1"/>
          <p:nvPr>
            <p:ph idx="12" type="sldNum"/>
          </p:nvPr>
        </p:nvSpPr>
        <p:spPr>
          <a:xfrm>
            <a:off x="11194770" y="6004476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60" name="Google Shape;160;p23"/>
          <p:cNvSpPr/>
          <p:nvPr/>
        </p:nvSpPr>
        <p:spPr>
          <a:xfrm>
            <a:off x="237434" y="6004476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13"/>
          <p:cNvSpPr txBox="1"/>
          <p:nvPr>
            <p:ph idx="1" type="body"/>
          </p:nvPr>
        </p:nvSpPr>
        <p:spPr>
          <a:xfrm>
            <a:off x="838200" y="1825626"/>
            <a:ext cx="10515600" cy="3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1" type="ftr"/>
          </p:nvPr>
        </p:nvSpPr>
        <p:spPr>
          <a:xfrm>
            <a:off x="237435" y="6013034"/>
            <a:ext cx="6070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12" type="sldNum"/>
          </p:nvPr>
        </p:nvSpPr>
        <p:spPr>
          <a:xfrm>
            <a:off x="11194770" y="6004476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52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ARQUITECTURA DEL SISTEMA</a:t>
            </a:r>
            <a:endParaRPr/>
          </a:p>
        </p:txBody>
      </p:sp>
      <p:sp>
        <p:nvSpPr>
          <p:cNvPr id="170" name="Google Shape;170;p25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i="0" lang="es-ES" sz="2800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Diagramas de secuencia, mapeo de requerimientos y escenarios</a:t>
            </a:r>
            <a:endParaRPr/>
          </a:p>
        </p:txBody>
      </p:sp>
      <p:sp>
        <p:nvSpPr>
          <p:cNvPr id="171" name="Google Shape;171;p25"/>
          <p:cNvSpPr txBox="1"/>
          <p:nvPr/>
        </p:nvSpPr>
        <p:spPr>
          <a:xfrm>
            <a:off x="11764925" y="6341775"/>
            <a:ext cx="91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191919"/>
                </a:solidFill>
              </a:rPr>
              <a:t>1</a:t>
            </a:r>
            <a:endParaRPr>
              <a:solidFill>
                <a:srgbClr val="19191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s-ES"/>
              <a:t>Agenda</a:t>
            </a:r>
            <a:endParaRPr/>
          </a:p>
        </p:txBody>
      </p:sp>
      <p:sp>
        <p:nvSpPr>
          <p:cNvPr id="177" name="Google Shape;177;p26"/>
          <p:cNvSpPr txBox="1"/>
          <p:nvPr>
            <p:ph idx="1" type="body"/>
          </p:nvPr>
        </p:nvSpPr>
        <p:spPr>
          <a:xfrm>
            <a:off x="838200" y="1825626"/>
            <a:ext cx="10515600" cy="3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-ES"/>
              <a:t>Requerimientos de calidad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/>
              <a:t>Patrón arquitectónico y patrón de diseño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/>
              <a:t>Comparación con otros estilos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/>
              <a:t>Arquitectura del Sistema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/>
              <a:t>Diagramas de Secuencia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/>
              <a:t>Mapeo de módulos con requerimiento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/>
              <a:t>Escenarios de despliegue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/>
              <a:t>Mapeo de escenarios por arquitectura</a:t>
            </a:r>
            <a:endParaRPr/>
          </a:p>
        </p:txBody>
      </p:sp>
      <p:sp>
        <p:nvSpPr>
          <p:cNvPr id="178" name="Google Shape;178;p26"/>
          <p:cNvSpPr txBox="1"/>
          <p:nvPr>
            <p:ph idx="12" type="sldNum"/>
          </p:nvPr>
        </p:nvSpPr>
        <p:spPr>
          <a:xfrm>
            <a:off x="11194770" y="6310312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79" name="Google Shape;179;p26"/>
          <p:cNvSpPr txBox="1"/>
          <p:nvPr/>
        </p:nvSpPr>
        <p:spPr>
          <a:xfrm>
            <a:off x="11764925" y="6341775"/>
            <a:ext cx="91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0" y="6394555"/>
            <a:ext cx="12192000" cy="365100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101B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Arquitectura del Sistema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</a:pPr>
            <a:r>
              <a:rPr lang="es-ES"/>
              <a:t>Requerimientos de calidad</a:t>
            </a:r>
            <a:endParaRPr/>
          </a:p>
        </p:txBody>
      </p:sp>
      <p:sp>
        <p:nvSpPr>
          <p:cNvPr id="186" name="Google Shape;186;p27"/>
          <p:cNvSpPr txBox="1"/>
          <p:nvPr>
            <p:ph idx="1" type="subTitle"/>
          </p:nvPr>
        </p:nvSpPr>
        <p:spPr>
          <a:xfrm>
            <a:off x="1524000" y="3616921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</a:pPr>
            <a:r>
              <a:rPr lang="es-ES"/>
              <a:t>Usando la ISO 25010</a:t>
            </a:r>
            <a:endParaRPr/>
          </a:p>
        </p:txBody>
      </p:sp>
      <p:sp>
        <p:nvSpPr>
          <p:cNvPr id="187" name="Google Shape;187;p27"/>
          <p:cNvSpPr txBox="1"/>
          <p:nvPr>
            <p:ph idx="4294967295" type="sldNum"/>
          </p:nvPr>
        </p:nvSpPr>
        <p:spPr>
          <a:xfrm>
            <a:off x="11566525" y="6307138"/>
            <a:ext cx="625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88" name="Google Shape;188;p27"/>
          <p:cNvSpPr txBox="1"/>
          <p:nvPr/>
        </p:nvSpPr>
        <p:spPr>
          <a:xfrm>
            <a:off x="11596654" y="6403775"/>
            <a:ext cx="40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2"/>
                </a:solidFill>
              </a:rPr>
              <a:t>3</a:t>
            </a:r>
            <a:endParaRPr/>
          </a:p>
        </p:txBody>
      </p:sp>
      <p:sp>
        <p:nvSpPr>
          <p:cNvPr id="189" name="Google Shape;189;p27"/>
          <p:cNvSpPr/>
          <p:nvPr/>
        </p:nvSpPr>
        <p:spPr>
          <a:xfrm>
            <a:off x="4392783" y="5364758"/>
            <a:ext cx="3436200" cy="129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/>
          <p:nvPr/>
        </p:nvSpPr>
        <p:spPr>
          <a:xfrm>
            <a:off x="611860" y="1572073"/>
            <a:ext cx="561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</a:rPr>
              <a:t>Según</a:t>
            </a:r>
            <a:r>
              <a:rPr b="1" lang="es-ES" sz="2000">
                <a:solidFill>
                  <a:schemeClr val="dk1"/>
                </a:solidFill>
              </a:rPr>
              <a:t> la ISO 25010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95" name="Google Shape;195;p28"/>
          <p:cNvSpPr txBox="1"/>
          <p:nvPr>
            <p:ph type="title"/>
          </p:nvPr>
        </p:nvSpPr>
        <p:spPr>
          <a:xfrm>
            <a:off x="147474" y="0"/>
            <a:ext cx="12044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s-ES" sz="3500"/>
              <a:t>Requerimientos de calidad</a:t>
            </a:r>
            <a:endParaRPr sz="3500"/>
          </a:p>
        </p:txBody>
      </p:sp>
      <p:sp>
        <p:nvSpPr>
          <p:cNvPr id="196" name="Google Shape;196;p28"/>
          <p:cNvSpPr/>
          <p:nvPr/>
        </p:nvSpPr>
        <p:spPr>
          <a:xfrm>
            <a:off x="0" y="6394555"/>
            <a:ext cx="12192000" cy="365100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101B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Arquitectura del Sistema</a:t>
            </a:r>
            <a:endParaRPr/>
          </a:p>
        </p:txBody>
      </p:sp>
      <p:sp>
        <p:nvSpPr>
          <p:cNvPr id="197" name="Google Shape;197;p28"/>
          <p:cNvSpPr txBox="1"/>
          <p:nvPr/>
        </p:nvSpPr>
        <p:spPr>
          <a:xfrm>
            <a:off x="11596655" y="6403775"/>
            <a:ext cx="44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4</a:t>
            </a: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198" name="Google Shape;198;p28"/>
          <p:cNvGraphicFramePr/>
          <p:nvPr/>
        </p:nvGraphicFramePr>
        <p:xfrm>
          <a:off x="2522153" y="20646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{BE33713E-936C-4153-A38E-5986B79397EA}</a:tableStyleId>
              </a:tblPr>
              <a:tblGrid>
                <a:gridCol w="2903775"/>
                <a:gridCol w="4243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lt1"/>
                          </a:solidFill>
                        </a:rPr>
                        <a:t>Requerimiento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lt1"/>
                          </a:solidFill>
                        </a:rPr>
                        <a:t>Categoría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Mantenibilidad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Modularidad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Flexibilidad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Adaptabilidad y </a:t>
                      </a:r>
                      <a:r>
                        <a:rPr lang="es-ES" sz="1800"/>
                        <a:t>reemplazabilidad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Fiabilidad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Tolerancia a fallos y recuperabilidad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Flexibilidad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Escalabilidad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Eficiencia de </a:t>
                      </a:r>
                      <a:r>
                        <a:rPr lang="es-ES" sz="1800"/>
                        <a:t>desempeño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Capacidad y </a:t>
                      </a:r>
                      <a:r>
                        <a:rPr lang="es-ES" sz="1800"/>
                        <a:t>utilización</a:t>
                      </a:r>
                      <a:r>
                        <a:rPr lang="es-ES" sz="1800"/>
                        <a:t> de recursos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Seguridad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Autenticidad, integridad, confidencialidad y resistencia 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/>
          <p:nvPr>
            <p:ph type="ctrTitle"/>
          </p:nvPr>
        </p:nvSpPr>
        <p:spPr>
          <a:xfrm>
            <a:off x="1925725" y="1038600"/>
            <a:ext cx="83703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</a:pPr>
            <a:r>
              <a:rPr lang="es-ES"/>
              <a:t>Patrón</a:t>
            </a:r>
            <a:r>
              <a:rPr lang="es-ES"/>
              <a:t> </a:t>
            </a:r>
            <a:r>
              <a:rPr lang="es-ES"/>
              <a:t>arquitectónico</a:t>
            </a:r>
            <a:r>
              <a:rPr lang="es-ES"/>
              <a:t> y </a:t>
            </a:r>
            <a:r>
              <a:rPr lang="es-ES"/>
              <a:t>patrón</a:t>
            </a:r>
            <a:r>
              <a:rPr lang="es-ES"/>
              <a:t> de </a:t>
            </a:r>
            <a:r>
              <a:rPr lang="es-ES"/>
              <a:t>diseño</a:t>
            </a:r>
            <a:endParaRPr/>
          </a:p>
        </p:txBody>
      </p:sp>
      <p:sp>
        <p:nvSpPr>
          <p:cNvPr id="204" name="Google Shape;204;p29"/>
          <p:cNvSpPr txBox="1"/>
          <p:nvPr>
            <p:ph idx="4294967295" type="sldNum"/>
          </p:nvPr>
        </p:nvSpPr>
        <p:spPr>
          <a:xfrm>
            <a:off x="11566525" y="6307138"/>
            <a:ext cx="625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05" name="Google Shape;205;p29"/>
          <p:cNvSpPr txBox="1"/>
          <p:nvPr/>
        </p:nvSpPr>
        <p:spPr>
          <a:xfrm>
            <a:off x="11596654" y="6403775"/>
            <a:ext cx="40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2"/>
                </a:solidFill>
              </a:rPr>
              <a:t>5</a:t>
            </a:r>
            <a:endParaRPr/>
          </a:p>
        </p:txBody>
      </p:sp>
      <p:sp>
        <p:nvSpPr>
          <p:cNvPr id="206" name="Google Shape;206;p29"/>
          <p:cNvSpPr/>
          <p:nvPr/>
        </p:nvSpPr>
        <p:spPr>
          <a:xfrm>
            <a:off x="4392783" y="5364758"/>
            <a:ext cx="3436200" cy="129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/>
          <p:nvPr/>
        </p:nvSpPr>
        <p:spPr>
          <a:xfrm>
            <a:off x="0" y="6394555"/>
            <a:ext cx="12192000" cy="365100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101B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0"/>
          <p:cNvSpPr txBox="1"/>
          <p:nvPr/>
        </p:nvSpPr>
        <p:spPr>
          <a:xfrm>
            <a:off x="11596657" y="6403775"/>
            <a:ext cx="50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0"/>
          <p:cNvSpPr txBox="1"/>
          <p:nvPr>
            <p:ph type="title"/>
          </p:nvPr>
        </p:nvSpPr>
        <p:spPr>
          <a:xfrm>
            <a:off x="626727" y="438775"/>
            <a:ext cx="10534500" cy="87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3500"/>
              <a:t>Patrón</a:t>
            </a:r>
            <a:r>
              <a:rPr lang="es-ES" sz="3500"/>
              <a:t> </a:t>
            </a:r>
            <a:r>
              <a:rPr lang="es-ES" sz="3500"/>
              <a:t>arquitectónico</a:t>
            </a:r>
            <a:r>
              <a:rPr lang="es-ES" sz="3500"/>
              <a:t>: Micro kernel</a:t>
            </a:r>
            <a:endParaRPr sz="3500"/>
          </a:p>
        </p:txBody>
      </p:sp>
      <p:pic>
        <p:nvPicPr>
          <p:cNvPr id="214" name="Google Shape;21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9648" y="1960750"/>
            <a:ext cx="7479501" cy="4353938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0"/>
          <p:cNvSpPr txBox="1"/>
          <p:nvPr/>
        </p:nvSpPr>
        <p:spPr>
          <a:xfrm>
            <a:off x="626725" y="1265300"/>
            <a:ext cx="1040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</a:rPr>
              <a:t>Nos brinda adaptabilidad y modularidad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16" name="Google Shape;216;p30"/>
          <p:cNvSpPr/>
          <p:nvPr/>
        </p:nvSpPr>
        <p:spPr>
          <a:xfrm>
            <a:off x="0" y="6394555"/>
            <a:ext cx="12192000" cy="365100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101B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Arquitectura del Sistema</a:t>
            </a:r>
            <a:endParaRPr/>
          </a:p>
        </p:txBody>
      </p:sp>
      <p:sp>
        <p:nvSpPr>
          <p:cNvPr id="217" name="Google Shape;217;p30"/>
          <p:cNvSpPr txBox="1"/>
          <p:nvPr/>
        </p:nvSpPr>
        <p:spPr>
          <a:xfrm>
            <a:off x="11596655" y="6403775"/>
            <a:ext cx="44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6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1"/>
          <p:cNvSpPr/>
          <p:nvPr/>
        </p:nvSpPr>
        <p:spPr>
          <a:xfrm>
            <a:off x="0" y="6394555"/>
            <a:ext cx="12192000" cy="365100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101B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Arquitectura del Sistema</a:t>
            </a:r>
            <a:endParaRPr/>
          </a:p>
        </p:txBody>
      </p:sp>
      <p:sp>
        <p:nvSpPr>
          <p:cNvPr id="223" name="Google Shape;223;p31"/>
          <p:cNvSpPr txBox="1"/>
          <p:nvPr/>
        </p:nvSpPr>
        <p:spPr>
          <a:xfrm>
            <a:off x="11596657" y="6403775"/>
            <a:ext cx="50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1"/>
          <p:cNvSpPr txBox="1"/>
          <p:nvPr>
            <p:ph type="title"/>
          </p:nvPr>
        </p:nvSpPr>
        <p:spPr>
          <a:xfrm>
            <a:off x="626727" y="438775"/>
            <a:ext cx="10534500" cy="87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3500"/>
              <a:t>Patrón de </a:t>
            </a:r>
            <a:r>
              <a:rPr lang="es-ES" sz="3500"/>
              <a:t>diseño</a:t>
            </a:r>
            <a:r>
              <a:rPr lang="es-ES" sz="3500"/>
              <a:t>: Factory</a:t>
            </a:r>
            <a:endParaRPr sz="3500"/>
          </a:p>
        </p:txBody>
      </p:sp>
      <p:sp>
        <p:nvSpPr>
          <p:cNvPr id="225" name="Google Shape;225;p31"/>
          <p:cNvSpPr txBox="1"/>
          <p:nvPr/>
        </p:nvSpPr>
        <p:spPr>
          <a:xfrm>
            <a:off x="626725" y="1265300"/>
            <a:ext cx="1040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</a:rPr>
              <a:t>Utilizamos </a:t>
            </a:r>
            <a:r>
              <a:rPr lang="es-ES" sz="2800">
                <a:solidFill>
                  <a:schemeClr val="dk1"/>
                </a:solidFill>
              </a:rPr>
              <a:t>Método</a:t>
            </a:r>
            <a:r>
              <a:rPr lang="es-ES" sz="2800">
                <a:solidFill>
                  <a:schemeClr val="dk1"/>
                </a:solidFill>
              </a:rPr>
              <a:t> de </a:t>
            </a:r>
            <a:r>
              <a:rPr lang="es-ES" sz="2800">
                <a:solidFill>
                  <a:schemeClr val="dk1"/>
                </a:solidFill>
              </a:rPr>
              <a:t>Fábrica</a:t>
            </a:r>
            <a:r>
              <a:rPr lang="es-ES" sz="2800">
                <a:solidFill>
                  <a:schemeClr val="dk1"/>
                </a:solidFill>
              </a:rPr>
              <a:t> y </a:t>
            </a:r>
            <a:r>
              <a:rPr lang="es-ES" sz="2800">
                <a:solidFill>
                  <a:schemeClr val="dk1"/>
                </a:solidFill>
              </a:rPr>
              <a:t>Fábrica</a:t>
            </a:r>
            <a:r>
              <a:rPr lang="es-ES" sz="2800">
                <a:solidFill>
                  <a:schemeClr val="dk1"/>
                </a:solidFill>
              </a:rPr>
              <a:t> Abstracta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226" name="Google Shape;22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7375" y="1880900"/>
            <a:ext cx="6633201" cy="442214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1"/>
          <p:cNvSpPr txBox="1"/>
          <p:nvPr/>
        </p:nvSpPr>
        <p:spPr>
          <a:xfrm>
            <a:off x="11596655" y="6403775"/>
            <a:ext cx="44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7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/>
          <p:nvPr>
            <p:ph type="ctrTitle"/>
          </p:nvPr>
        </p:nvSpPr>
        <p:spPr>
          <a:xfrm>
            <a:off x="1925725" y="1038600"/>
            <a:ext cx="83703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</a:pPr>
            <a:r>
              <a:rPr lang="es-ES"/>
              <a:t>Comparación</a:t>
            </a:r>
            <a:r>
              <a:rPr lang="es-ES"/>
              <a:t> con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</a:pPr>
            <a:r>
              <a:rPr lang="es-ES"/>
              <a:t>otros estilos</a:t>
            </a:r>
            <a:endParaRPr/>
          </a:p>
        </p:txBody>
      </p:sp>
      <p:sp>
        <p:nvSpPr>
          <p:cNvPr id="233" name="Google Shape;233;p32"/>
          <p:cNvSpPr txBox="1"/>
          <p:nvPr>
            <p:ph idx="4294967295" type="sldNum"/>
          </p:nvPr>
        </p:nvSpPr>
        <p:spPr>
          <a:xfrm>
            <a:off x="11566525" y="6307138"/>
            <a:ext cx="625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34" name="Google Shape;234;p32"/>
          <p:cNvSpPr txBox="1"/>
          <p:nvPr/>
        </p:nvSpPr>
        <p:spPr>
          <a:xfrm>
            <a:off x="11596654" y="6403775"/>
            <a:ext cx="40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2"/>
                </a:solidFill>
              </a:rPr>
              <a:t>8</a:t>
            </a:r>
            <a:endParaRPr/>
          </a:p>
        </p:txBody>
      </p:sp>
      <p:sp>
        <p:nvSpPr>
          <p:cNvPr id="235" name="Google Shape;235;p32"/>
          <p:cNvSpPr/>
          <p:nvPr/>
        </p:nvSpPr>
        <p:spPr>
          <a:xfrm>
            <a:off x="4392783" y="5364758"/>
            <a:ext cx="3436200" cy="129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3"/>
          <p:cNvSpPr txBox="1"/>
          <p:nvPr/>
        </p:nvSpPr>
        <p:spPr>
          <a:xfrm>
            <a:off x="611848" y="1572075"/>
            <a:ext cx="697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</a:rPr>
              <a:t>Al comparar con los requerimientos de calidad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41" name="Google Shape;241;p33"/>
          <p:cNvSpPr txBox="1"/>
          <p:nvPr>
            <p:ph type="title"/>
          </p:nvPr>
        </p:nvSpPr>
        <p:spPr>
          <a:xfrm>
            <a:off x="147474" y="0"/>
            <a:ext cx="12044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s-ES" sz="3500"/>
              <a:t>Comparación</a:t>
            </a:r>
            <a:r>
              <a:rPr lang="es-ES" sz="3500"/>
              <a:t> con otros estilos</a:t>
            </a:r>
            <a:endParaRPr sz="3500"/>
          </a:p>
        </p:txBody>
      </p:sp>
      <p:sp>
        <p:nvSpPr>
          <p:cNvPr id="242" name="Google Shape;242;p33"/>
          <p:cNvSpPr/>
          <p:nvPr/>
        </p:nvSpPr>
        <p:spPr>
          <a:xfrm>
            <a:off x="0" y="6394555"/>
            <a:ext cx="12192000" cy="365100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101B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Arquitectura del Sistema</a:t>
            </a:r>
            <a:endParaRPr/>
          </a:p>
        </p:txBody>
      </p:sp>
      <p:sp>
        <p:nvSpPr>
          <p:cNvPr id="243" name="Google Shape;243;p33"/>
          <p:cNvSpPr txBox="1"/>
          <p:nvPr/>
        </p:nvSpPr>
        <p:spPr>
          <a:xfrm>
            <a:off x="11596655" y="6403775"/>
            <a:ext cx="44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9</a:t>
            </a:r>
            <a:endParaRPr/>
          </a:p>
        </p:txBody>
      </p:sp>
      <p:graphicFrame>
        <p:nvGraphicFramePr>
          <p:cNvPr id="244" name="Google Shape;244;p33"/>
          <p:cNvGraphicFramePr/>
          <p:nvPr/>
        </p:nvGraphicFramePr>
        <p:xfrm>
          <a:off x="1244753" y="21413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{BE33713E-936C-4153-A38E-5986B79397EA}</a:tableStyleId>
              </a:tblPr>
              <a:tblGrid>
                <a:gridCol w="1658200"/>
                <a:gridCol w="2051325"/>
                <a:gridCol w="2046675"/>
                <a:gridCol w="1837025"/>
                <a:gridCol w="2109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lt1"/>
                          </a:solidFill>
                        </a:rPr>
                        <a:t>Estilo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lt1"/>
                          </a:solidFill>
                        </a:rPr>
                        <a:t>Adaptabilidad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lt1"/>
                          </a:solidFill>
                        </a:rPr>
                        <a:t>Modularidad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lt1"/>
                          </a:solidFill>
                        </a:rPr>
                        <a:t>Fiabilidad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lt1"/>
                          </a:solidFill>
                        </a:rPr>
                        <a:t>Seguridad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Micro kernel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Alta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Alta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Alta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Alta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Bus de eventos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Medio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Alta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Bajo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Medio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Reconciliación</a:t>
                      </a:r>
                      <a:r>
                        <a:rPr lang="es-ES" sz="1800"/>
                        <a:t> continua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Alta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Alta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Medio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Medio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Monolítico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Bajo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Bajo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Media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Bajo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Microservicios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Medio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Alta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Bajo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Medio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4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</a:pPr>
            <a:r>
              <a:rPr lang="es-ES"/>
              <a:t>Arquitectura del Sistema</a:t>
            </a:r>
            <a:endParaRPr/>
          </a:p>
        </p:txBody>
      </p:sp>
      <p:sp>
        <p:nvSpPr>
          <p:cNvPr id="250" name="Google Shape;250;p34"/>
          <p:cNvSpPr txBox="1"/>
          <p:nvPr>
            <p:ph idx="1" type="subTitle"/>
          </p:nvPr>
        </p:nvSpPr>
        <p:spPr>
          <a:xfrm>
            <a:off x="1524000" y="3616921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51" name="Google Shape;251;p34"/>
          <p:cNvSpPr txBox="1"/>
          <p:nvPr>
            <p:ph idx="4294967295" type="sldNum"/>
          </p:nvPr>
        </p:nvSpPr>
        <p:spPr>
          <a:xfrm>
            <a:off x="11566525" y="6307138"/>
            <a:ext cx="625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52" name="Google Shape;252;p34"/>
          <p:cNvSpPr txBox="1"/>
          <p:nvPr/>
        </p:nvSpPr>
        <p:spPr>
          <a:xfrm>
            <a:off x="11596654" y="6403775"/>
            <a:ext cx="40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2"/>
                </a:solidFill>
              </a:rPr>
              <a:t>10</a:t>
            </a:r>
            <a:endParaRPr/>
          </a:p>
        </p:txBody>
      </p:sp>
      <p:sp>
        <p:nvSpPr>
          <p:cNvPr id="253" name="Google Shape;253;p34"/>
          <p:cNvSpPr/>
          <p:nvPr/>
        </p:nvSpPr>
        <p:spPr>
          <a:xfrm>
            <a:off x="4392783" y="5364758"/>
            <a:ext cx="3436200" cy="129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/>
          <p:nvPr/>
        </p:nvSpPr>
        <p:spPr>
          <a:xfrm>
            <a:off x="0" y="6394555"/>
            <a:ext cx="12192000" cy="365100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101B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Arquitectura del Sistema</a:t>
            </a:r>
            <a:endParaRPr/>
          </a:p>
        </p:txBody>
      </p:sp>
      <p:sp>
        <p:nvSpPr>
          <p:cNvPr id="259" name="Google Shape;259;p35"/>
          <p:cNvSpPr txBox="1"/>
          <p:nvPr/>
        </p:nvSpPr>
        <p:spPr>
          <a:xfrm>
            <a:off x="11596657" y="6403775"/>
            <a:ext cx="50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11</a:t>
            </a:r>
            <a:endParaRPr/>
          </a:p>
        </p:txBody>
      </p:sp>
      <p:pic>
        <p:nvPicPr>
          <p:cNvPr id="260" name="Google Shape;260;p35"/>
          <p:cNvPicPr preferRelativeResize="0"/>
          <p:nvPr/>
        </p:nvPicPr>
        <p:blipFill rotWithShape="1">
          <a:blip r:embed="rId3">
            <a:alphaModFix/>
          </a:blip>
          <a:srcRect b="5776" l="0" r="0" t="0"/>
          <a:stretch/>
        </p:blipFill>
        <p:spPr>
          <a:xfrm>
            <a:off x="261563" y="0"/>
            <a:ext cx="11668874" cy="6383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6"/>
          <p:cNvSpPr txBox="1"/>
          <p:nvPr>
            <p:ph type="title"/>
          </p:nvPr>
        </p:nvSpPr>
        <p:spPr>
          <a:xfrm>
            <a:off x="147474" y="0"/>
            <a:ext cx="12044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s-ES" sz="3500"/>
              <a:t>Funciones de cada Módulo</a:t>
            </a:r>
            <a:endParaRPr sz="3500"/>
          </a:p>
        </p:txBody>
      </p:sp>
      <p:sp>
        <p:nvSpPr>
          <p:cNvPr id="266" name="Google Shape;266;p36"/>
          <p:cNvSpPr/>
          <p:nvPr/>
        </p:nvSpPr>
        <p:spPr>
          <a:xfrm>
            <a:off x="0" y="6394555"/>
            <a:ext cx="12192000" cy="365100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101B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Arquitectura del Sistema</a:t>
            </a:r>
            <a:endParaRPr/>
          </a:p>
        </p:txBody>
      </p:sp>
      <p:sp>
        <p:nvSpPr>
          <p:cNvPr id="267" name="Google Shape;267;p36"/>
          <p:cNvSpPr txBox="1"/>
          <p:nvPr/>
        </p:nvSpPr>
        <p:spPr>
          <a:xfrm>
            <a:off x="11596655" y="6403775"/>
            <a:ext cx="44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12</a:t>
            </a:r>
            <a:endParaRPr/>
          </a:p>
        </p:txBody>
      </p:sp>
      <p:graphicFrame>
        <p:nvGraphicFramePr>
          <p:cNvPr id="268" name="Google Shape;268;p36"/>
          <p:cNvGraphicFramePr/>
          <p:nvPr/>
        </p:nvGraphicFramePr>
        <p:xfrm>
          <a:off x="476690" y="13256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{BE33713E-936C-4153-A38E-5986B79397EA}</a:tableStyleId>
              </a:tblPr>
              <a:tblGrid>
                <a:gridCol w="1940725"/>
                <a:gridCol w="3320175"/>
                <a:gridCol w="5859050"/>
              </a:tblGrid>
              <a:tr h="47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lt1"/>
                          </a:solidFill>
                        </a:rPr>
                        <a:t>Plano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lt1"/>
                          </a:solidFill>
                        </a:rPr>
                        <a:t>Módulo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lt1"/>
                          </a:solidFill>
                        </a:rPr>
                        <a:t>Funciones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</a:tr>
              <a:tr h="757950">
                <a:tc rowSpan="5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Servicio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Puerta de Enlace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Único acceso externo: verifica token, formato y tasa de pedidos; enruta a Identidad y a Slices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79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Gestor de Identidad y Proyectos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Usuarios, tokens y roles por proyecto; proyectos, pool de estudiantes (CSV) y notificaciones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7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Gestor de Slices y Plantillas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Autoriza y versiona la especificación; plantillas, imágenes y estado del slice; encola el job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79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Controlador de Cuotas y Admisión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Cuota por proyecto: preverifica, compromete de forma atómica, libera y gestiona ampliaciones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7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Encolador de Jobs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Dueño de la cola: un job activo por slice y reparto justo; entrega cada job a un solo ejecutor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7"/>
          <p:cNvSpPr/>
          <p:nvPr/>
        </p:nvSpPr>
        <p:spPr>
          <a:xfrm>
            <a:off x="0" y="6394555"/>
            <a:ext cx="12192000" cy="365100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101B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Arquitectura del Sistema</a:t>
            </a:r>
            <a:endParaRPr/>
          </a:p>
        </p:txBody>
      </p:sp>
      <p:sp>
        <p:nvSpPr>
          <p:cNvPr id="274" name="Google Shape;274;p37"/>
          <p:cNvSpPr txBox="1"/>
          <p:nvPr/>
        </p:nvSpPr>
        <p:spPr>
          <a:xfrm>
            <a:off x="11596655" y="6403775"/>
            <a:ext cx="44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13</a:t>
            </a:r>
            <a:endParaRPr/>
          </a:p>
        </p:txBody>
      </p:sp>
      <p:graphicFrame>
        <p:nvGraphicFramePr>
          <p:cNvPr id="275" name="Google Shape;275;p37"/>
          <p:cNvGraphicFramePr/>
          <p:nvPr/>
        </p:nvGraphicFramePr>
        <p:xfrm>
          <a:off x="200868" y="1438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{BE33713E-936C-4153-A38E-5986B79397EA}</a:tableStyleId>
              </a:tblPr>
              <a:tblGrid>
                <a:gridCol w="1725025"/>
                <a:gridCol w="3136650"/>
                <a:gridCol w="6974500"/>
              </a:tblGrid>
              <a:tr h="47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lt1"/>
                          </a:solidFill>
                        </a:rPr>
                        <a:t>Plano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lt1"/>
                          </a:solidFill>
                        </a:rPr>
                        <a:t>Módulo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lt1"/>
                          </a:solidFill>
                        </a:rPr>
                        <a:t>Funciones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</a:tr>
              <a:tr h="757950">
                <a:tc rowSpan="6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Núcleo de orquestación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Conductor de Jobs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Toma el job y recorre las etapas en orden; renueva el arrendamiento y reporta el resultado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79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Gestor de Capacidad y Recursos Únicos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Coloca los nodos en servidores (R4); reserva capacidad, VLANs, IPs y puertos; confirma y libera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7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Modelador y Planificador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Valida capacidades y modela el slice; calcula deseado menos real y arma el plan ordenado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79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Motor de Ejecución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Única puerta de comandos a los proveedores: ejecuta el plan por olas, registra y compensa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7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Inventario y Telemetría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Alta y baja de servidores y zonas; mide capacidad, uso y salud de cada servidor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7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Catálogo y Fábrica de Plataformas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Registra las familias y sus capacidades; construye la familia de proveedores de cada zona (Factory)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Proveedores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Familia X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Traducen el contrato a cada plataforma; únicas con credenciales de infraestructura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Infraestructura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Cluster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Ejecutan las VMs y redes del slice; infraestructura del laboratorio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8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</a:pPr>
            <a:r>
              <a:rPr lang="es-ES"/>
              <a:t>Diagramas de Secuencia</a:t>
            </a:r>
            <a:endParaRPr/>
          </a:p>
        </p:txBody>
      </p:sp>
      <p:sp>
        <p:nvSpPr>
          <p:cNvPr id="281" name="Google Shape;281;p38"/>
          <p:cNvSpPr txBox="1"/>
          <p:nvPr>
            <p:ph idx="1" type="subTitle"/>
          </p:nvPr>
        </p:nvSpPr>
        <p:spPr>
          <a:xfrm>
            <a:off x="1524000" y="3616921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82" name="Google Shape;282;p38"/>
          <p:cNvSpPr txBox="1"/>
          <p:nvPr>
            <p:ph idx="4294967295" type="sldNum"/>
          </p:nvPr>
        </p:nvSpPr>
        <p:spPr>
          <a:xfrm>
            <a:off x="11566525" y="6307138"/>
            <a:ext cx="625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83" name="Google Shape;283;p38"/>
          <p:cNvSpPr txBox="1"/>
          <p:nvPr/>
        </p:nvSpPr>
        <p:spPr>
          <a:xfrm>
            <a:off x="11596654" y="6403775"/>
            <a:ext cx="40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2"/>
                </a:solidFill>
              </a:rPr>
              <a:t>14</a:t>
            </a:r>
            <a:endParaRPr/>
          </a:p>
        </p:txBody>
      </p:sp>
      <p:sp>
        <p:nvSpPr>
          <p:cNvPr id="284" name="Google Shape;284;p38"/>
          <p:cNvSpPr/>
          <p:nvPr/>
        </p:nvSpPr>
        <p:spPr>
          <a:xfrm>
            <a:off x="4392783" y="5364758"/>
            <a:ext cx="3436200" cy="129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9"/>
          <p:cNvSpPr/>
          <p:nvPr/>
        </p:nvSpPr>
        <p:spPr>
          <a:xfrm>
            <a:off x="0" y="6394555"/>
            <a:ext cx="12192000" cy="365100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101B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Arquitectura del Sistema</a:t>
            </a:r>
            <a:endParaRPr/>
          </a:p>
        </p:txBody>
      </p:sp>
      <p:sp>
        <p:nvSpPr>
          <p:cNvPr id="290" name="Google Shape;290;p39"/>
          <p:cNvSpPr txBox="1"/>
          <p:nvPr/>
        </p:nvSpPr>
        <p:spPr>
          <a:xfrm>
            <a:off x="11596657" y="6403775"/>
            <a:ext cx="50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15</a:t>
            </a:r>
            <a:endParaRPr/>
          </a:p>
        </p:txBody>
      </p:sp>
      <p:sp>
        <p:nvSpPr>
          <p:cNvPr id="291" name="Google Shape;291;p39"/>
          <p:cNvSpPr txBox="1"/>
          <p:nvPr>
            <p:ph type="title"/>
          </p:nvPr>
        </p:nvSpPr>
        <p:spPr>
          <a:xfrm>
            <a:off x="584851" y="72300"/>
            <a:ext cx="6074100" cy="87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3500"/>
              <a:t>Idea central del núcleo:</a:t>
            </a:r>
            <a:endParaRPr sz="3500"/>
          </a:p>
        </p:txBody>
      </p:sp>
      <p:sp>
        <p:nvSpPr>
          <p:cNvPr id="292" name="Google Shape;292;p39"/>
          <p:cNvSpPr txBox="1"/>
          <p:nvPr/>
        </p:nvSpPr>
        <p:spPr>
          <a:xfrm>
            <a:off x="5753423" y="6069038"/>
            <a:ext cx="6242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/>
              <a:t>Rferencia o fuente</a:t>
            </a:r>
            <a:endParaRPr i="1" sz="900"/>
          </a:p>
        </p:txBody>
      </p:sp>
      <p:pic>
        <p:nvPicPr>
          <p:cNvPr id="293" name="Google Shape;29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126" y="825075"/>
            <a:ext cx="11413750" cy="557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0"/>
          <p:cNvSpPr/>
          <p:nvPr/>
        </p:nvSpPr>
        <p:spPr>
          <a:xfrm>
            <a:off x="0" y="6394555"/>
            <a:ext cx="12192000" cy="365100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101B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Arquitectura del Sistema</a:t>
            </a:r>
            <a:endParaRPr/>
          </a:p>
        </p:txBody>
      </p:sp>
      <p:sp>
        <p:nvSpPr>
          <p:cNvPr id="299" name="Google Shape;299;p40"/>
          <p:cNvSpPr txBox="1"/>
          <p:nvPr/>
        </p:nvSpPr>
        <p:spPr>
          <a:xfrm>
            <a:off x="11596657" y="6403775"/>
            <a:ext cx="50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16</a:t>
            </a:r>
            <a:endParaRPr/>
          </a:p>
        </p:txBody>
      </p:sp>
      <p:sp>
        <p:nvSpPr>
          <p:cNvPr id="300" name="Google Shape;300;p40"/>
          <p:cNvSpPr txBox="1"/>
          <p:nvPr>
            <p:ph type="title"/>
          </p:nvPr>
        </p:nvSpPr>
        <p:spPr>
          <a:xfrm>
            <a:off x="489777" y="0"/>
            <a:ext cx="8932800" cy="87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3500"/>
              <a:t>Diagrama de secuencia: job de creación</a:t>
            </a:r>
            <a:endParaRPr sz="3500"/>
          </a:p>
        </p:txBody>
      </p:sp>
      <p:sp>
        <p:nvSpPr>
          <p:cNvPr id="301" name="Google Shape;301;p40"/>
          <p:cNvSpPr txBox="1"/>
          <p:nvPr/>
        </p:nvSpPr>
        <p:spPr>
          <a:xfrm>
            <a:off x="5753423" y="6069038"/>
            <a:ext cx="6242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/>
              <a:t>Rferencia o fuente</a:t>
            </a:r>
            <a:endParaRPr i="1" sz="900"/>
          </a:p>
        </p:txBody>
      </p:sp>
      <p:pic>
        <p:nvPicPr>
          <p:cNvPr id="302" name="Google Shape;30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738" y="750675"/>
            <a:ext cx="11508065" cy="5549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1"/>
          <p:cNvSpPr/>
          <p:nvPr/>
        </p:nvSpPr>
        <p:spPr>
          <a:xfrm>
            <a:off x="0" y="6394555"/>
            <a:ext cx="12192000" cy="365100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101B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Arquitectura del Sistema</a:t>
            </a:r>
            <a:endParaRPr/>
          </a:p>
        </p:txBody>
      </p:sp>
      <p:sp>
        <p:nvSpPr>
          <p:cNvPr id="308" name="Google Shape;308;p41"/>
          <p:cNvSpPr txBox="1"/>
          <p:nvPr/>
        </p:nvSpPr>
        <p:spPr>
          <a:xfrm>
            <a:off x="11596657" y="6403775"/>
            <a:ext cx="50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17</a:t>
            </a:r>
            <a:endParaRPr/>
          </a:p>
        </p:txBody>
      </p:sp>
      <p:sp>
        <p:nvSpPr>
          <p:cNvPr id="309" name="Google Shape;309;p41"/>
          <p:cNvSpPr txBox="1"/>
          <p:nvPr>
            <p:ph type="title"/>
          </p:nvPr>
        </p:nvSpPr>
        <p:spPr>
          <a:xfrm>
            <a:off x="360200" y="66500"/>
            <a:ext cx="11727600" cy="87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s-ES" sz="2850"/>
              <a:t>Diagrama de secuencia: job de edición, con falla y compensación</a:t>
            </a:r>
            <a:endParaRPr sz="2850"/>
          </a:p>
        </p:txBody>
      </p:sp>
      <p:sp>
        <p:nvSpPr>
          <p:cNvPr id="310" name="Google Shape;310;p41"/>
          <p:cNvSpPr txBox="1"/>
          <p:nvPr/>
        </p:nvSpPr>
        <p:spPr>
          <a:xfrm>
            <a:off x="5753423" y="6069038"/>
            <a:ext cx="6242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/>
              <a:t>Rferencia o fuente</a:t>
            </a:r>
            <a:endParaRPr i="1" sz="900"/>
          </a:p>
        </p:txBody>
      </p:sp>
      <p:pic>
        <p:nvPicPr>
          <p:cNvPr id="311" name="Google Shape;31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200" y="807751"/>
            <a:ext cx="11236444" cy="549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2"/>
          <p:cNvSpPr/>
          <p:nvPr/>
        </p:nvSpPr>
        <p:spPr>
          <a:xfrm>
            <a:off x="0" y="6394555"/>
            <a:ext cx="12192000" cy="365100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101B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Arquitectura del Sistema</a:t>
            </a:r>
            <a:endParaRPr/>
          </a:p>
        </p:txBody>
      </p:sp>
      <p:sp>
        <p:nvSpPr>
          <p:cNvPr id="317" name="Google Shape;317;p42"/>
          <p:cNvSpPr txBox="1"/>
          <p:nvPr/>
        </p:nvSpPr>
        <p:spPr>
          <a:xfrm>
            <a:off x="11596657" y="6403775"/>
            <a:ext cx="50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18</a:t>
            </a:r>
            <a:endParaRPr/>
          </a:p>
        </p:txBody>
      </p:sp>
      <p:sp>
        <p:nvSpPr>
          <p:cNvPr id="318" name="Google Shape;318;p42"/>
          <p:cNvSpPr txBox="1"/>
          <p:nvPr>
            <p:ph type="title"/>
          </p:nvPr>
        </p:nvSpPr>
        <p:spPr>
          <a:xfrm>
            <a:off x="309450" y="123000"/>
            <a:ext cx="10458300" cy="87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3500"/>
              <a:t>Diagrama de secuencia: job de eliminación</a:t>
            </a:r>
            <a:endParaRPr sz="3500"/>
          </a:p>
        </p:txBody>
      </p:sp>
      <p:sp>
        <p:nvSpPr>
          <p:cNvPr id="319" name="Google Shape;319;p42"/>
          <p:cNvSpPr txBox="1"/>
          <p:nvPr/>
        </p:nvSpPr>
        <p:spPr>
          <a:xfrm>
            <a:off x="5753423" y="6069038"/>
            <a:ext cx="6242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/>
              <a:t>Rferencia o fuente</a:t>
            </a:r>
            <a:endParaRPr i="1" sz="900"/>
          </a:p>
        </p:txBody>
      </p:sp>
      <p:pic>
        <p:nvPicPr>
          <p:cNvPr id="320" name="Google Shape;32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450" y="859000"/>
            <a:ext cx="11331635" cy="544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</a:pPr>
            <a:r>
              <a:rPr lang="es-ES"/>
              <a:t>Mapeo de módulos con requerimiento + escenarios</a:t>
            </a:r>
            <a:endParaRPr/>
          </a:p>
        </p:txBody>
      </p:sp>
      <p:sp>
        <p:nvSpPr>
          <p:cNvPr id="326" name="Google Shape;326;p43"/>
          <p:cNvSpPr txBox="1"/>
          <p:nvPr>
            <p:ph idx="1" type="subTitle"/>
          </p:nvPr>
        </p:nvSpPr>
        <p:spPr>
          <a:xfrm>
            <a:off x="1524000" y="3616921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27" name="Google Shape;327;p43"/>
          <p:cNvSpPr txBox="1"/>
          <p:nvPr>
            <p:ph idx="4294967295" type="sldNum"/>
          </p:nvPr>
        </p:nvSpPr>
        <p:spPr>
          <a:xfrm>
            <a:off x="11566525" y="6307138"/>
            <a:ext cx="625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28" name="Google Shape;328;p43"/>
          <p:cNvSpPr txBox="1"/>
          <p:nvPr/>
        </p:nvSpPr>
        <p:spPr>
          <a:xfrm>
            <a:off x="11596654" y="6403775"/>
            <a:ext cx="40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2"/>
                </a:solidFill>
              </a:rPr>
              <a:t>19</a:t>
            </a:r>
            <a:endParaRPr/>
          </a:p>
        </p:txBody>
      </p:sp>
      <p:sp>
        <p:nvSpPr>
          <p:cNvPr id="329" name="Google Shape;329;p43"/>
          <p:cNvSpPr/>
          <p:nvPr/>
        </p:nvSpPr>
        <p:spPr>
          <a:xfrm>
            <a:off x="4392783" y="5364758"/>
            <a:ext cx="3436200" cy="129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/>
          <p:nvPr/>
        </p:nvSpPr>
        <p:spPr>
          <a:xfrm>
            <a:off x="0" y="6394555"/>
            <a:ext cx="12192000" cy="365100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101B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Arquitectura del Sistema</a:t>
            </a:r>
            <a:endParaRPr/>
          </a:p>
        </p:txBody>
      </p:sp>
      <p:sp>
        <p:nvSpPr>
          <p:cNvPr id="335" name="Google Shape;335;p44"/>
          <p:cNvSpPr txBox="1"/>
          <p:nvPr/>
        </p:nvSpPr>
        <p:spPr>
          <a:xfrm>
            <a:off x="11596657" y="6403775"/>
            <a:ext cx="50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20</a:t>
            </a:r>
            <a:endParaRPr/>
          </a:p>
        </p:txBody>
      </p:sp>
      <p:sp>
        <p:nvSpPr>
          <p:cNvPr id="336" name="Google Shape;336;p44"/>
          <p:cNvSpPr txBox="1"/>
          <p:nvPr>
            <p:ph type="title"/>
          </p:nvPr>
        </p:nvSpPr>
        <p:spPr>
          <a:xfrm>
            <a:off x="584851" y="72300"/>
            <a:ext cx="6074100" cy="87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3500"/>
              <a:t>Escenarios de despliegue</a:t>
            </a:r>
            <a:endParaRPr sz="3500"/>
          </a:p>
        </p:txBody>
      </p:sp>
      <p:sp>
        <p:nvSpPr>
          <p:cNvPr id="337" name="Google Shape;337;p44"/>
          <p:cNvSpPr txBox="1"/>
          <p:nvPr/>
        </p:nvSpPr>
        <p:spPr>
          <a:xfrm>
            <a:off x="5753423" y="6069038"/>
            <a:ext cx="6242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/>
              <a:t>Rferencia o fuente</a:t>
            </a:r>
            <a:endParaRPr i="1" sz="900"/>
          </a:p>
        </p:txBody>
      </p:sp>
      <p:pic>
        <p:nvPicPr>
          <p:cNvPr id="338" name="Google Shape;338;p44"/>
          <p:cNvPicPr preferRelativeResize="0"/>
          <p:nvPr/>
        </p:nvPicPr>
        <p:blipFill rotWithShape="1">
          <a:blip r:embed="rId3">
            <a:alphaModFix/>
          </a:blip>
          <a:srcRect b="-4350" l="0" r="0" t="4350"/>
          <a:stretch/>
        </p:blipFill>
        <p:spPr>
          <a:xfrm>
            <a:off x="319925" y="853050"/>
            <a:ext cx="11676201" cy="5473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5"/>
          <p:cNvSpPr/>
          <p:nvPr/>
        </p:nvSpPr>
        <p:spPr>
          <a:xfrm>
            <a:off x="0" y="6394555"/>
            <a:ext cx="12192000" cy="365100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101B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Arquitectura del Sistema</a:t>
            </a:r>
            <a:endParaRPr/>
          </a:p>
        </p:txBody>
      </p:sp>
      <p:sp>
        <p:nvSpPr>
          <p:cNvPr id="344" name="Google Shape;344;p45"/>
          <p:cNvSpPr txBox="1"/>
          <p:nvPr/>
        </p:nvSpPr>
        <p:spPr>
          <a:xfrm>
            <a:off x="11596657" y="6403775"/>
            <a:ext cx="50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21</a:t>
            </a:r>
            <a:endParaRPr/>
          </a:p>
        </p:txBody>
      </p:sp>
      <p:sp>
        <p:nvSpPr>
          <p:cNvPr id="345" name="Google Shape;345;p45"/>
          <p:cNvSpPr txBox="1"/>
          <p:nvPr>
            <p:ph type="title"/>
          </p:nvPr>
        </p:nvSpPr>
        <p:spPr>
          <a:xfrm>
            <a:off x="584850" y="72300"/>
            <a:ext cx="8205300" cy="87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3500"/>
              <a:t>Mapeo de módulos por requerimiento</a:t>
            </a:r>
            <a:endParaRPr sz="3500"/>
          </a:p>
        </p:txBody>
      </p:sp>
      <p:sp>
        <p:nvSpPr>
          <p:cNvPr id="346" name="Google Shape;346;p45"/>
          <p:cNvSpPr txBox="1"/>
          <p:nvPr/>
        </p:nvSpPr>
        <p:spPr>
          <a:xfrm>
            <a:off x="5753423" y="6069038"/>
            <a:ext cx="6242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/>
              <a:t>Rferencia o fuente</a:t>
            </a:r>
            <a:endParaRPr i="1" sz="900"/>
          </a:p>
        </p:txBody>
      </p:sp>
      <p:pic>
        <p:nvPicPr>
          <p:cNvPr id="347" name="Google Shape;347;p45"/>
          <p:cNvPicPr preferRelativeResize="0"/>
          <p:nvPr/>
        </p:nvPicPr>
        <p:blipFill rotWithShape="1">
          <a:blip r:embed="rId3">
            <a:alphaModFix/>
          </a:blip>
          <a:srcRect b="12219" l="491" r="10255" t="-1473"/>
          <a:stretch/>
        </p:blipFill>
        <p:spPr>
          <a:xfrm>
            <a:off x="344475" y="839950"/>
            <a:ext cx="11320049" cy="539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6"/>
          <p:cNvSpPr/>
          <p:nvPr/>
        </p:nvSpPr>
        <p:spPr>
          <a:xfrm>
            <a:off x="0" y="6394555"/>
            <a:ext cx="12192000" cy="365100"/>
          </a:xfrm>
          <a:prstGeom prst="rect">
            <a:avLst/>
          </a:prstGeom>
          <a:solidFill>
            <a:srgbClr val="002060"/>
          </a:solidFill>
          <a:ln cap="flat" cmpd="sng" w="25400">
            <a:solidFill>
              <a:srgbClr val="101B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Arquitectura del Sistema</a:t>
            </a:r>
            <a:endParaRPr/>
          </a:p>
        </p:txBody>
      </p:sp>
      <p:sp>
        <p:nvSpPr>
          <p:cNvPr id="353" name="Google Shape;353;p46"/>
          <p:cNvSpPr txBox="1"/>
          <p:nvPr/>
        </p:nvSpPr>
        <p:spPr>
          <a:xfrm>
            <a:off x="11596657" y="6403775"/>
            <a:ext cx="50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22</a:t>
            </a:r>
            <a:endParaRPr/>
          </a:p>
        </p:txBody>
      </p:sp>
      <p:sp>
        <p:nvSpPr>
          <p:cNvPr id="354" name="Google Shape;354;p46"/>
          <p:cNvSpPr txBox="1"/>
          <p:nvPr>
            <p:ph type="title"/>
          </p:nvPr>
        </p:nvSpPr>
        <p:spPr>
          <a:xfrm>
            <a:off x="584850" y="72300"/>
            <a:ext cx="10012800" cy="87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3500"/>
              <a:t>Mapeo de escenarios por arquitectura</a:t>
            </a:r>
            <a:endParaRPr sz="3500"/>
          </a:p>
        </p:txBody>
      </p:sp>
      <p:sp>
        <p:nvSpPr>
          <p:cNvPr id="355" name="Google Shape;355;p46"/>
          <p:cNvSpPr txBox="1"/>
          <p:nvPr/>
        </p:nvSpPr>
        <p:spPr>
          <a:xfrm>
            <a:off x="5753423" y="6069038"/>
            <a:ext cx="6242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/>
              <a:t>Rferencia o fuente</a:t>
            </a:r>
            <a:endParaRPr i="1" sz="900"/>
          </a:p>
        </p:txBody>
      </p:sp>
      <p:pic>
        <p:nvPicPr>
          <p:cNvPr id="356" name="Google Shape;35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725" y="794750"/>
            <a:ext cx="11674399" cy="5472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